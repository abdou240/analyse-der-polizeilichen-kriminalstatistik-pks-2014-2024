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/>
            </a:pPr>
            <a:r>
              <a:t>Zeitliche und regionale Analyse von Diebstahlsdelikten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t>PKS-Daten 2014-2024</a:t>
            </a:r>
          </a:p>
          <a:p>
            <a:r>
              <a:t>Wissenschaftliche Auswertung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Fragestellungen und Datenbasis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 b="0"/>
            </a:pPr>
            <a:r>
              <a:t>• Wie haben sich die Fallzahlen 2014-2024 entwickelt?</a:t>
            </a:r>
          </a:p>
          <a:p>
            <a:pPr>
              <a:defRPr sz="1600" b="0"/>
            </a:pPr>
            <a:r>
              <a:t>• Welche regionalen Unterschiede zeigen sich zwischen den Bundeslandern?</a:t>
            </a:r>
          </a:p>
          <a:p>
            <a:pPr>
              <a:defRPr sz="1600" b="0"/>
            </a:pPr>
            <a:r>
              <a:t>• Wie verhalten sich Fallzahlen und Aufklarungsquoten zueinander?</a:t>
            </a:r>
          </a:p>
          <a:p>
            <a:pPr>
              <a:defRPr sz="1600" b="0"/>
            </a:pPr>
            <a:r>
              <a:t>• Optional: Welche Rolle spielen Bevolkerungsdichte und Urbanisierung?</a:t>
            </a:r>
          </a:p>
          <a:p>
            <a:br/>
            <a:pPr>
              <a:defRPr sz="1200" i="1"/>
            </a:pPr>
            <a:r>
              <a:t>Datenquelle: Bereinigte PKS-Zeitreihen und Lander-Tabellen (2014-2024)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Methodische Herangehensweise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• Berechnung standardisierter Haufigkeiten pro 100.000 Einwohner</a:t>
            </a:r>
          </a:p>
          <a:p>
            <a:pPr>
              <a:defRPr sz="1600"/>
            </a:pPr>
            <a:r>
              <a:t>• Liniendiagramme zur Darstellung langfristiger Trends</a:t>
            </a:r>
          </a:p>
          <a:p>
            <a:pPr>
              <a:defRPr sz="1600"/>
            </a:pPr>
            <a:r>
              <a:t>• Bar-Diagramme und Streudiagramme zur regionalen Analyse</a:t>
            </a:r>
          </a:p>
          <a:p>
            <a:pPr>
              <a:defRPr sz="1600"/>
            </a:pPr>
            <a:r>
              <a:t>• Lineare Regression zur Untersuchung von Zusammenhangen</a:t>
            </a:r>
          </a:p>
          <a:p>
            <a:pPr>
              <a:defRPr sz="1600"/>
            </a:pPr>
            <a:r>
              <a:t>• Dual-Achsen-Darstellung fur unterschiedliche Skalierungen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Zeitliche Entwicklung der Fallzahlen</a:t>
            </a:r>
          </a:p>
        </p:txBody>
      </p:sp>
      <p:pic>
        <p:nvPicPr>
          <p:cNvPr id="3" name="Picture 2" descr="figure1_c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88796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Abbildung 1: Fallzahlen der drei Deliktgruppen (2014-2024). Anmerkung: Wohnungseinbruch- und Kfz-Diebstahlsfalle sind auf der sekundaren Y-Achse dargestellt.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Entwicklung der Aufklarungsquoten</a:t>
            </a:r>
          </a:p>
        </p:txBody>
      </p:sp>
      <p:pic>
        <p:nvPicPr>
          <p:cNvPr id="3" name="Picture 2" descr="figure2_clear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89290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Abbildung 2: Aufklarungsquoten nach Deliktgruppe (2014-2024). Wohnungseinbruch zeigt die niedrigsten Aufklarungsraten.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Regionale Unterschiede 2024</a:t>
            </a:r>
          </a:p>
        </p:txBody>
      </p:sp>
      <p:pic>
        <p:nvPicPr>
          <p:cNvPr id="3" name="Picture 2" descr="figure3_bar_st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9022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Abbildung 3: Top-10 Bundeslander nach Fallzahlen (Diebstahl insgesamt, 2024). NRW und Berlin zeigen die hochsten Fallzahlen; die Werte sind in Tausend angegeben.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Zusammenhang: Fallzahlen und Aufklarungsquoten</a:t>
            </a:r>
          </a:p>
        </p:txBody>
      </p:sp>
      <p:pic>
        <p:nvPicPr>
          <p:cNvPr id="3" name="Picture 2" descr="figure4_scatter_cases_clear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486400" cy="425031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920" y="109728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Statistische Analyse</a:t>
            </a:r>
          </a:p>
          <a:p>
            <a:pPr>
              <a:defRPr sz="1200"/>
            </a:pPr>
            <a:r>
              <a:t>Korrelation (2024): r = -0.207</a:t>
            </a:r>
          </a:p>
          <a:p>
            <a:pPr>
              <a:defRPr sz="1200"/>
            </a:pPr>
            <a:r>
              <a:t>Bestimmtheitsmass: R² = 0.043</a:t>
            </a:r>
          </a:p>
          <a:p>
            <a:pPr>
              <a:defRPr sz="1200" b="1"/>
            </a:pPr>
            <a:r>
              <a:t>Interpretation:</a:t>
            </a:r>
          </a:p>
          <a:p>
            <a:pPr>
              <a:defRPr sz="1100"/>
            </a:pPr>
            <a:r>
              <a:t>Bundeslander mit hoheren Fallzahlen tendieren zu niedrigeren Aufklarungsquoten. Besonders Berlin fallt als Ausreisser auf.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Abbildung 4: Streudiagramm mit Trendlinie. Jeder Punkt reprasentiert ein Bundesland (2024).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Zusammenfassung &amp; Implikationen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• Fallzahlen zeigen einen abnehmenden Trend in allen Deliktgruppen</a:t>
            </a:r>
          </a:p>
          <a:p>
            <a:pPr>
              <a:defRPr sz="1600"/>
            </a:pPr>
            <a:r>
              <a:t>• Aufklarungsquoten bleiben bei Wohnungseinbruch kritisch niedrig (~15%)</a:t>
            </a:r>
          </a:p>
          <a:p>
            <a:pPr>
              <a:defRPr sz="1600"/>
            </a:pPr>
            <a:r>
              <a:t>• Deutliche regionale Unterschiede: Stadtstaaten mit hochsten Fallzahlen</a:t>
            </a:r>
          </a:p>
          <a:p>
            <a:pPr>
              <a:defRPr sz="1600"/>
            </a:pPr>
            <a:r>
              <a:t>• Negativer Zusammenhang zwischen Fallzahl und Aufklarungsquote</a:t>
            </a:r>
          </a:p>
          <a:p>
            <a:pPr>
              <a:defRPr sz="1600"/>
            </a:pPr>
            <a:r>
              <a:t>• Datenlimitation: Dunkelfeld und Anzeigeverhalten beachten</a:t>
            </a:r>
          </a:p>
          <a:p>
            <a:br/>
            <a:pPr>
              <a:defRPr sz="1400" b="1"/>
            </a:pPr>
            <a:r>
              <a:t>Ausblick fur weitere Forschung:</a:t>
            </a:r>
          </a:p>
          <a:p>
            <a:pPr lvl="1">
              <a:defRPr sz="1400"/>
            </a:pPr>
            <a:r>
              <a:t>• Integration soziookonomischer Kontrollvariablen</a:t>
            </a:r>
          </a:p>
          <a:p>
            <a:pPr lvl="1">
              <a:defRPr sz="1400"/>
            </a:pPr>
            <a:r>
              <a:t>• Analyse von Praventionsmassnahmen auf Landerebene</a:t>
            </a:r>
          </a:p>
          <a:p>
            <a:pPr lvl="1">
              <a:defRPr sz="1400"/>
            </a:pPr>
            <a:r>
              <a:t>• Langsschnittanalysen mit Panel-Daten-Methoden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